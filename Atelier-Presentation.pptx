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0"/>
            <a:ext cx="4453128" cy="6858000"/>
          </a:xfrm>
          <a:prstGeom prst="rect">
            <a:avLst/>
          </a:prstGeom>
          <a:solidFill>
            <a:srgbClr val="100E0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0" y="0"/>
            <a:ext cx="3657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274320"/>
            <a:ext cx="36576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1A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CLIENT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Galerie d'Art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94360" y="4069080"/>
            <a:ext cx="22860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206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e-commerce de luxe dédiée à l'art décoratif en Tunisie.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Tableaux, œuvres sur toile et peintures d'artistes locaux — livrés partout en Tunisie.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0" y="612648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·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CONCEPT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galerie d'art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votre salon.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4688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est une plateforme e-commerce de luxe qui connecte les amateurs d'art tunisien avec des œuvres d'exception : peintures abstraites, art islamique, aquarelles, art doré à la feuille.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L'expérience d'achat est pensée comme une visite de galerie — immersive, élégante, personnalisée.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4297680"/>
            <a:ext cx="3566160" cy="182880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429768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498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authentique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532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Œuvres d'artistes tunisiens sélectionnées avec soin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53128" y="4297680"/>
            <a:ext cx="3566160" cy="182880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429768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4498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6008" y="4937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nationale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36008" y="5532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gouvernorats · tarifs dégressifs · livraison offerte dès 800 TND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11896" y="4297680"/>
            <a:ext cx="3566160" cy="182880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11896" y="429768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0" name="Text 18"/>
          <p:cNvSpPr/>
          <p:nvPr/>
        </p:nvSpPr>
        <p:spPr>
          <a:xfrm>
            <a:off x="8494776" y="44988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94776" y="49377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intégré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94776" y="5532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Commande, suivi et conseil via WhatsApp Business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CLIENT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Boutique &amp; Parcours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d'achat.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6517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517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parallaxe cinématique · Collections visuelles · Best-sellers · Témoignages clients · Galerie inspiration intérieure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26517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3128" y="26517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6008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avancée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multi-critères (collection, prix, orientation, format, style) · Recherche live avec suggestions · Tri dynamique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11896" y="26517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26517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9" name="Text 17"/>
          <p:cNvSpPr/>
          <p:nvPr/>
        </p:nvSpPr>
        <p:spPr>
          <a:xfrm>
            <a:off x="8494776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94776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produit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94776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interactif · Vue en situation (room preview) · Personnalisation format &amp; cadre · Calcul de prix en temps réel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44805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4805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5120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5715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optimisé pour la Tunisie · 24 gouvernorats · Paiement à la livraison · Paymee (banque locale) · Code promo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53128" y="44805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53128" y="44805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❤️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36008" y="5120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36008" y="5715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souhaits persistante · Cœur sur chaque produit · Page /favoris dédiée avec compteur dans le header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11896" y="44805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11896" y="44805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34" name="Text 32"/>
          <p:cNvSpPr/>
          <p:nvPr/>
        </p:nvSpPr>
        <p:spPr>
          <a:xfrm>
            <a:off x="8494776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94776" y="5120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94776" y="5715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reviews par produit · Note en étoiles · Stocké localement · Formulaire de dépôt d'avis en page produit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60E0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0"/>
            <a:ext cx="36576" cy="68580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0" y="1371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8412480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WHATSAPP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7772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Vendre &amp; communiquer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WhatsApp.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94360" y="2240280"/>
            <a:ext cx="18288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423160"/>
            <a:ext cx="7223760" cy="713232"/>
          </a:xfrm>
          <a:prstGeom prst="rect">
            <a:avLst/>
          </a:prstGeom>
          <a:solidFill>
            <a:srgbClr val="0D100D"/>
          </a:solidFill>
          <a:ln w="6350">
            <a:solidFill>
              <a:srgbClr val="152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423160"/>
            <a:ext cx="54864" cy="71323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871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 flottante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468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Apparaît 2s après l'arrivée sur le site · Lien pré-rempli · Numéro configurable depuis l'admin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227832"/>
            <a:ext cx="7223760" cy="713232"/>
          </a:xfrm>
          <a:prstGeom prst="rect">
            <a:avLst/>
          </a:prstGeom>
          <a:solidFill>
            <a:srgbClr val="0A0D0A"/>
          </a:solidFill>
          <a:ln w="6350">
            <a:solidFill>
              <a:srgbClr val="15201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227832"/>
            <a:ext cx="54864" cy="71323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91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via WA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2735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sur la page checkout · Message structuré avec détail du panier, adresse et total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4032504"/>
            <a:ext cx="7223760" cy="713232"/>
          </a:xfrm>
          <a:prstGeom prst="rect">
            <a:avLst/>
          </a:prstGeom>
          <a:solidFill>
            <a:srgbClr val="0D100D"/>
          </a:solidFill>
          <a:ln w="6350">
            <a:solidFill>
              <a:srgbClr val="1520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32504"/>
            <a:ext cx="54864" cy="71323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96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produit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40782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'Commander via WhatsApp' sur chaque fiche produit · Message avec nom, artiste et prix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4837176"/>
            <a:ext cx="7223760" cy="713232"/>
          </a:xfrm>
          <a:prstGeom prst="rect">
            <a:avLst/>
          </a:prstGeom>
          <a:solidFill>
            <a:srgbClr val="0A0D0A"/>
          </a:solidFill>
          <a:ln w="6350">
            <a:solidFill>
              <a:srgbClr val="1520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837176"/>
            <a:ext cx="54864" cy="71323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011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admin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48828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nouvelle commande → message automatique envoyé au gérant avec résumé complet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5641848"/>
            <a:ext cx="7223760" cy="713232"/>
          </a:xfrm>
          <a:prstGeom prst="rect">
            <a:avLst/>
          </a:prstGeom>
          <a:solidFill>
            <a:srgbClr val="0D100D"/>
          </a:solidFill>
          <a:ln w="6350">
            <a:solidFill>
              <a:srgbClr val="15201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5641848"/>
            <a:ext cx="54864" cy="713232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7058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statut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56875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 notifie le client (confirmé / expédié / livré / annulé) depuis le panneau commande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de bord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6517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517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: CA, commandes, clients · Graphique CA 7 jours · Top collections · Commandes récentes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26517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53128" y="26517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36008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36008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 · Upload photo (Supabase Storage) · Prix, format, stock · Badges best-seller / nouveau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11896" y="26517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26517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9" name="Text 17"/>
          <p:cNvSpPr/>
          <p:nvPr/>
        </p:nvSpPr>
        <p:spPr>
          <a:xfrm>
            <a:off x="8494776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94776" y="3291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94776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statut · Détail client · Filtres · Recherche · Lien vers WhatsApp client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44805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4805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5120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Promo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5715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codes · Remise en % · Activation / désactivation · Suppression · Codes prédéfinis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53128" y="44805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53128" y="44805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9" name="Text 27"/>
          <p:cNvSpPr/>
          <p:nvPr/>
        </p:nvSpPr>
        <p:spPr>
          <a:xfrm>
            <a:off x="4636008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36008" y="5120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36008" y="5715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Numérotation FACT-YYYY-NNNN · Génération HTML · Téléchargement · Données entreprise sur facture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11896" y="4480560"/>
            <a:ext cx="3566160" cy="1691640"/>
          </a:xfrm>
          <a:prstGeom prst="rect">
            <a:avLst/>
          </a:prstGeom>
          <a:solidFill>
            <a:srgbClr val="1614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11896" y="4480560"/>
            <a:ext cx="35661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34" name="Text 32"/>
          <p:cNvSpPr/>
          <p:nvPr/>
        </p:nvSpPr>
        <p:spPr>
          <a:xfrm>
            <a:off x="8494776" y="4681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494776" y="5120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94776" y="5715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entreprise · Numéro WhatsApp Business · Matricule fiscal · Registre de commerce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moderne &amp;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651760"/>
            <a:ext cx="2651760" cy="3337560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51760"/>
            <a:ext cx="26517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761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58952" y="3127248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58952" y="3749040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30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" y="4370832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52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react-router (Data mode)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58952" y="4992624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74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(Framer Motion v11)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93008" y="2651760"/>
            <a:ext cx="2651760" cy="3337560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93008" y="2651760"/>
            <a:ext cx="26517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761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&amp; DATA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0" y="3127248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22" name="Text 20"/>
          <p:cNvSpPr/>
          <p:nvPr/>
        </p:nvSpPr>
        <p:spPr>
          <a:xfrm>
            <a:off x="3767328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(persistance)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0" y="3749040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24" name="Text 22"/>
          <p:cNvSpPr/>
          <p:nvPr/>
        </p:nvSpPr>
        <p:spPr>
          <a:xfrm>
            <a:off x="3767328" y="3730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0" y="4370832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26" name="Text 24"/>
          <p:cNvSpPr/>
          <p:nvPr/>
        </p:nvSpPr>
        <p:spPr>
          <a:xfrm>
            <a:off x="3767328" y="4352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(images)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0" y="4992624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28" name="Text 26"/>
          <p:cNvSpPr/>
          <p:nvPr/>
        </p:nvSpPr>
        <p:spPr>
          <a:xfrm>
            <a:off x="3767328" y="4974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(admin)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91656" y="2651760"/>
            <a:ext cx="2651760" cy="3337560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1656" y="2651760"/>
            <a:ext cx="26517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31" name="Text 29"/>
          <p:cNvSpPr/>
          <p:nvPr/>
        </p:nvSpPr>
        <p:spPr>
          <a:xfrm>
            <a:off x="6556248" y="2761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DESIGN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556248" y="3127248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33" name="Text 31"/>
          <p:cNvSpPr/>
          <p:nvPr/>
        </p:nvSpPr>
        <p:spPr>
          <a:xfrm>
            <a:off x="6665976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Playfair Display + Lato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56248" y="3749040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35" name="Text 33"/>
          <p:cNvSpPr/>
          <p:nvPr/>
        </p:nvSpPr>
        <p:spPr>
          <a:xfrm>
            <a:off x="6665976" y="3730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+ Radix UI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56248" y="4370832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37" name="Text 35"/>
          <p:cNvSpPr/>
          <p:nvPr/>
        </p:nvSpPr>
        <p:spPr>
          <a:xfrm>
            <a:off x="6665976" y="4352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(graphiques)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56248" y="4992624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39" name="Text 37"/>
          <p:cNvSpPr/>
          <p:nvPr/>
        </p:nvSpPr>
        <p:spPr>
          <a:xfrm>
            <a:off x="6665976" y="4974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Sonner (toasts)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290304" y="2651760"/>
            <a:ext cx="2651760" cy="3337560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90304" y="2651760"/>
            <a:ext cx="2651760" cy="41148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2" name="Text 40"/>
          <p:cNvSpPr/>
          <p:nvPr/>
        </p:nvSpPr>
        <p:spPr>
          <a:xfrm>
            <a:off x="9454896" y="2761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454896" y="3127248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44" name="Text 42"/>
          <p:cNvSpPr/>
          <p:nvPr/>
        </p:nvSpPr>
        <p:spPr>
          <a:xfrm>
            <a:off x="9564624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(wa.me)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454896" y="3749040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4624" y="3730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Paymee (carte bancaire TN)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454896" y="4370832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48" name="Text 46"/>
          <p:cNvSpPr/>
          <p:nvPr/>
        </p:nvSpPr>
        <p:spPr>
          <a:xfrm>
            <a:off x="9564624" y="4352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(emails, prêt)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454896" y="4992624"/>
            <a:ext cx="45720" cy="219456"/>
          </a:xfrm>
          <a:prstGeom prst="rect">
            <a:avLst/>
          </a:prstGeom>
          <a:solidFill>
            <a:srgbClr val="C9A46B"/>
          </a:solidFill>
          <a:ln/>
        </p:spPr>
      </p:sp>
      <p:sp>
        <p:nvSpPr>
          <p:cNvPr id="50" name="Text 48"/>
          <p:cNvSpPr/>
          <p:nvPr/>
        </p:nvSpPr>
        <p:spPr>
          <a:xfrm>
            <a:off x="9564624" y="4974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gouvernorats tunisiens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LOCALE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Optimisé pour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marché tunisien.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651760"/>
            <a:ext cx="5532120" cy="1170432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gouvernorats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31272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nationale complète avec frais de livraison individualisés et délais estimés par région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0" y="2651760"/>
            <a:ext cx="5532120" cy="1170432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 TND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6600" y="31272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prix affichés en dinars tunisiens · Format local (ex : 450,000 TND)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950208"/>
            <a:ext cx="5532120" cy="1170432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151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133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local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42569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WhatsApp avec numéro tunisien configurable depuis l'interface admin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0" y="3950208"/>
            <a:ext cx="5532120" cy="1170432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151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413308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de Tunis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442569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commandes en heure tunisienne (UTC+1) · Format Jour/Mois/Année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" y="5248656"/>
            <a:ext cx="5532120" cy="1170432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5449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🚚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4315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offerte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572414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livraison gratuite configurable (par défaut 800 TND)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5248656"/>
            <a:ext cx="5532120" cy="1170432"/>
          </a:xfrm>
          <a:prstGeom prst="rect">
            <a:avLst/>
          </a:prstGeom>
          <a:solidFill>
            <a:srgbClr val="0D0B09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5449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🧾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86600" y="54315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 locale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572414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avec matricule fiscal et registre de commerce · Format FACT-YYYY-NNNN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PRODUITS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 d'œuvres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d'art avancée.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4231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8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œuvre est une entité riche : titre, artiste, collection, description, style, orientation, dimensions, cadres disponibles, niveau de stock, badges et note client.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291840"/>
            <a:ext cx="5532120" cy="594360"/>
          </a:xfrm>
          <a:prstGeom prst="rect">
            <a:avLst/>
          </a:prstGeom>
          <a:solidFill>
            <a:srgbClr val="0D0B09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32918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4381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34381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tailles (30×40 · 50×70 · 60×80 · 80×100 cm)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532120" cy="59436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32918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4381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34381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finitions (naturel, blanc, noir) avec majoration de prix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977640"/>
            <a:ext cx="5532120" cy="594360"/>
          </a:xfrm>
          <a:prstGeom prst="rect">
            <a:avLst/>
          </a:prstGeom>
          <a:solidFill>
            <a:srgbClr val="0D0B0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39776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239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41239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· Paysage · Carré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3977640"/>
            <a:ext cx="5532120" cy="59436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9776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1239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21040" y="41239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islamique · Abstrait · Doré · Aquarelle · Nature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4663440"/>
            <a:ext cx="5532120" cy="594360"/>
          </a:xfrm>
          <a:prstGeom prst="rect">
            <a:avLst/>
          </a:prstGeom>
          <a:solidFill>
            <a:srgbClr val="0D0B09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46634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097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shop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48097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· Style · Format · Orientation · En stock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4663440"/>
            <a:ext cx="5532120" cy="59436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0" y="46634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48097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chambre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48097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preview pour visualiser l'œuvre en situation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5349240"/>
            <a:ext cx="5532120" cy="594360"/>
          </a:xfrm>
          <a:prstGeom prst="rect">
            <a:avLst/>
          </a:prstGeom>
          <a:solidFill>
            <a:srgbClr val="0D0B09"/>
          </a:solidFill>
          <a:ln/>
        </p:spPr>
      </p:sp>
      <p:sp>
        <p:nvSpPr>
          <p:cNvPr id="33" name="Shape 31"/>
          <p:cNvSpPr/>
          <p:nvPr/>
        </p:nvSpPr>
        <p:spPr>
          <a:xfrm>
            <a:off x="594360" y="53492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4955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produit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14600" y="54955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interactif sur survol de la photo principale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5349240"/>
            <a:ext cx="5532120" cy="594360"/>
          </a:xfrm>
          <a:prstGeom prst="rect">
            <a:avLst/>
          </a:prstGeom>
          <a:solidFill>
            <a:srgbClr val="0A0907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5349240"/>
            <a:ext cx="45720" cy="5943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549554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54955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persistant · Page liste personnelle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ACCÈS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sécurisée.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3716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651760"/>
            <a:ext cx="11000232" cy="822960"/>
          </a:xfrm>
          <a:prstGeom prst="rect">
            <a:avLst/>
          </a:prstGeom>
          <a:solidFill>
            <a:srgbClr val="0D0B09"/>
          </a:solidFill>
          <a:ln w="6350">
            <a:solidFill>
              <a:srgbClr val="1E1A1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651760"/>
            <a:ext cx="54864" cy="8229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double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277063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admin par défaut intégré (email + mot de passe) · Supabase Auth en option pour comptes supplémentaires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11000232" cy="822960"/>
          </a:xfrm>
          <a:prstGeom prst="rect">
            <a:avLst/>
          </a:prstGeom>
          <a:solidFill>
            <a:srgbClr val="0A0907"/>
          </a:solidFill>
          <a:ln w="6350">
            <a:solidFill>
              <a:srgbClr val="1E1A1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611880"/>
            <a:ext cx="54864" cy="8229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des routes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73075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routes /admin/* sont protégées · Redirection automatique vers la page de connexion si non authentifié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4572000"/>
            <a:ext cx="11000232" cy="822960"/>
          </a:xfrm>
          <a:prstGeom prst="rect">
            <a:avLst/>
          </a:prstGeom>
          <a:solidFill>
            <a:srgbClr val="0D0B09"/>
          </a:solidFill>
          <a:ln w="6350">
            <a:solidFill>
              <a:srgbClr val="1E1A1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4572000"/>
            <a:ext cx="54864" cy="8229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709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locale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69087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stockées en localStorage avec clé préfixée atelier: · Aucune dépendance réseau pour le fonctionnement de base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" y="5532120"/>
            <a:ext cx="11000232" cy="822960"/>
          </a:xfrm>
          <a:prstGeom prst="rect">
            <a:avLst/>
          </a:prstGeom>
          <a:solidFill>
            <a:srgbClr val="0A0907"/>
          </a:solidFill>
          <a:ln w="6350">
            <a:solidFill>
              <a:srgbClr val="1E1A1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5532120"/>
            <a:ext cx="54864" cy="8229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669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sécurisé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5650992"/>
            <a:ext cx="6675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produits hébergées sur Supabase Storage · URLs publiques signées · Aucune donnée client sur le cloud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6446520"/>
            <a:ext cx="11000232" cy="457200"/>
          </a:xfrm>
          <a:prstGeom prst="rect">
            <a:avLst/>
          </a:prstGeom>
          <a:solidFill>
            <a:srgbClr val="1A150E"/>
          </a:solidFill>
          <a:ln w="6350">
            <a:solidFill>
              <a:srgbClr val="2A1E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9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Accès admin par défaut : admin@atelier.tn · Atelier2024!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B0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00D0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0"/>
            <a:ext cx="36576" cy="685800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0" y="457200"/>
            <a:ext cx="301752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0" dirty="0">
                <a:solidFill>
                  <a:srgbClr val="1A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4000" dirty="0"/>
          </a:p>
        </p:txBody>
      </p:sp>
      <p:sp>
        <p:nvSpPr>
          <p:cNvPr id="7" name="Text 5"/>
          <p:cNvSpPr/>
          <p:nvPr/>
        </p:nvSpPr>
        <p:spPr>
          <a:xfrm>
            <a:off x="594360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9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0EA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Atelier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9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Galerie d'Art · Tunisie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2743200" cy="22860"/>
          </a:xfrm>
          <a:prstGeom prst="rect">
            <a:avLst/>
          </a:prstGeom>
          <a:solidFill>
            <a:srgbClr val="B8925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546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atelier.tn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72160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contact@atelier.tn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288536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+216 00 000 000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85546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Rue de la Kasbah, 1006 Tunis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61722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spc="150" kern="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 uniquement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2026-08-02T00:13:42Z</dcterms:created>
  <dcterms:modified xsi:type="dcterms:W3CDTF">2026-08-02T00:13:42Z</dcterms:modified>
</cp:coreProperties>
</file>